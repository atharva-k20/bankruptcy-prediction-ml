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B5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C2B5E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33-46C3-B999-BB9D446D72F9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33-46C3-B999-BB9D446D72F9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F633-46C3-B999-BB9D446D72F9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F633-46C3-B999-BB9D446D72F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Not Bankrupt (96.8%)</c:v>
                </c:pt>
                <c:pt idx="1">
                  <c:v>Bankrupt (3.2%)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6599</c:v>
                </c:pt>
                <c:pt idx="1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33-46C3-B999-BB9D446D7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B5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C2B5E"/>
                </a:solidFill>
                <a:latin typeface="Arial"/>
              </a:rPr>
              <a:t>Top Features Correlated with Bankruptcy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Bankruptcy</c:v>
                </c:pt>
              </c:strCache>
            </c:strRef>
          </c:tx>
          <c:spPr>
            <a:solidFill>
              <a:srgbClr val="1C2B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Net worth/Assets</c:v>
                </c:pt>
                <c:pt idx="1">
                  <c:v>Debt ratio %</c:v>
                </c:pt>
                <c:pt idx="2">
                  <c:v>ROA(C)</c:v>
                </c:pt>
                <c:pt idx="3">
                  <c:v>Cash Flow/Assets</c:v>
                </c:pt>
                <c:pt idx="4">
                  <c:v>Liability-Assets Flag</c:v>
                </c:pt>
                <c:pt idx="5">
                  <c:v>Retained Earnings/TA</c:v>
                </c:pt>
                <c:pt idx="6">
                  <c:v>Net Income/TA</c:v>
                </c:pt>
                <c:pt idx="7">
                  <c:v>CFO to Assets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0.28000000000000003</c:v>
                </c:pt>
                <c:pt idx="1">
                  <c:v>0.26</c:v>
                </c:pt>
                <c:pt idx="2">
                  <c:v>0.22</c:v>
                </c:pt>
                <c:pt idx="3">
                  <c:v>0.2</c:v>
                </c:pt>
                <c:pt idx="4">
                  <c:v>0.18</c:v>
                </c:pt>
                <c:pt idx="5">
                  <c:v>0.17</c:v>
                </c:pt>
                <c:pt idx="6">
                  <c:v>0.16</c:v>
                </c:pt>
                <c:pt idx="7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88-4ADC-8188-FCADA9D6D0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74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43875">
              <a:alpha val="30000"/>
            </a:srgbClr>
          </a:solidFill>
          <a:ln w="12700">
            <a:solidFill>
              <a:srgbClr val="24387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243875">
              <a:alpha val="40000"/>
            </a:srgbClr>
          </a:solidFill>
          <a:ln w="12700">
            <a:solidFill>
              <a:srgbClr val="24387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02920"/>
            <a:ext cx="137160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02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5E"/>
                </a:solidFill>
              </a:rPr>
              <a:t>BFSI DOMAIN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Bankruptcy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Model for Early Financial Distress Detection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218688"/>
            <a:ext cx="41148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401568"/>
            <a:ext cx="1920240" cy="749808"/>
          </a:xfrm>
          <a:prstGeom prst="rect">
            <a:avLst/>
          </a:prstGeom>
          <a:solidFill>
            <a:srgbClr val="16205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01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6,819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3822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Companies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3401568"/>
            <a:ext cx="1920240" cy="749808"/>
          </a:xfrm>
          <a:prstGeom prst="rect">
            <a:avLst/>
          </a:prstGeom>
          <a:solidFill>
            <a:srgbClr val="16205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401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3822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401568"/>
            <a:ext cx="1920240" cy="749808"/>
          </a:xfrm>
          <a:prstGeom prst="rect">
            <a:avLst/>
          </a:prstGeom>
          <a:solidFill>
            <a:srgbClr val="16205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401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30:1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3822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Imbalance Ratio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96A8"/>
                </a:solidFill>
              </a:rPr>
              <a:t>Binary Classification  |  Scikit-learn  |  Gradient Boosting  |  SMOTE  |  ROC-AUC: 0.94</a:t>
            </a:r>
            <a:endParaRPr lang="en-US" sz="9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 &amp; 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C2B5E"/>
                </a:solidFill>
              </a:rPr>
              <a:t>Problem </a:t>
            </a:r>
            <a:r>
              <a:rPr lang="en-US" sz="1400" b="1" dirty="0">
                <a:solidFill>
                  <a:srgbClr val="1C2B5E"/>
                </a:solidFill>
              </a:rPr>
              <a:t>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company will go bankrupt based on financial indicators.
</a:t>
            </a: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— Banking, Financial Services &amp; Insurance
</a:t>
            </a: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lenders stand to lose money on unpaid debts. Early detection of financial distress helps mitigate risk before it becomes irreversible.
</a:t>
            </a:r>
            <a:r>
              <a:rPr lang="en-US" sz="12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financial ratios and build a binary classifier to identify at-risk companies.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2057400" cy="96012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914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6,819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Total Companies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67728" y="914400"/>
            <a:ext cx="2057400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67728" y="914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67728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Total Columns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029968"/>
            <a:ext cx="20574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0299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220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25786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Bankrupt (3.2%)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67728" y="2029968"/>
            <a:ext cx="20574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67728" y="20299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30:1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67728" y="25786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Class Imbalance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24612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291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</a:rPr>
              <a:t>Feature Categories (94 Financial Ratios)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3657600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▸  Profitability Ratios — ROA, Operating Margin, EPS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▸  Liquidity Ratios — Current Ratio, Quick Ratio, Cash Ratios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▸  Leverage/Debt Ratios — Debt Ratio, Net Worth/Assets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▸  Growth Metrics — Asset Growth, Net Value Growth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▸  Efficiency Metrics — Asset Turnover, Revenue/Employee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 — Key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22960"/>
          <a:ext cx="32004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611880" y="822960"/>
          <a:ext cx="52120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429000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3429000"/>
            <a:ext cx="208483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C2B5E"/>
                </a:solidFill>
              </a:rPr>
              <a:t>Severe </a:t>
            </a:r>
            <a:r>
              <a:rPr lang="en-US" sz="1100" b="1" dirty="0">
                <a:solidFill>
                  <a:srgbClr val="1C2B5E"/>
                </a:solidFill>
              </a:rPr>
              <a:t>Imbalance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" y="385876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30:1 ratio — Only 3.2% bankrupt. Accuracy alone is misleading. Recall and ROC-AUC are key metrics.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32888" y="3429000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32888" y="3429000"/>
            <a:ext cx="2084832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24328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C2B5E"/>
                </a:solidFill>
              </a:rPr>
              <a:t>No </a:t>
            </a:r>
            <a:r>
              <a:rPr lang="en-US" sz="1100" b="1" dirty="0">
                <a:solidFill>
                  <a:srgbClr val="1C2B5E"/>
                </a:solidFill>
              </a:rPr>
              <a:t>Missing Data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24328" y="385876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Zero missing values across all 95 columns — no imputation needed. Clean dataset ready for modeling.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45736" y="3429000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45736" y="3429000"/>
            <a:ext cx="2084832" cy="54864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37176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C2B5E"/>
                </a:solidFill>
              </a:rPr>
              <a:t>High </a:t>
            </a:r>
            <a:r>
              <a:rPr lang="en-US" sz="1100" b="1" dirty="0">
                <a:solidFill>
                  <a:srgbClr val="1C2B5E"/>
                </a:solidFill>
              </a:rPr>
              <a:t>Correlation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37176" y="385876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Many features share &gt;0.92 correlation. 18 columns dropped post-correlation filtering, reducing from 94 → 76.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958584" y="3429000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58584" y="3429000"/>
            <a:ext cx="208483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50024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C2B5E"/>
                </a:solidFill>
              </a:rPr>
              <a:t>Outliers </a:t>
            </a:r>
            <a:r>
              <a:rPr lang="en-US" sz="1100" b="1" dirty="0">
                <a:solidFill>
                  <a:srgbClr val="1C2B5E"/>
                </a:solidFill>
              </a:rPr>
              <a:t>Present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050024" y="385876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Several ratios have &gt;20% outliers. Winsorization at 1%-99% percentile applied to stabilize distributions.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ML Pipeline &amp; Model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325880" cy="914400"/>
          </a:xfrm>
          <a:prstGeom prst="rect">
            <a:avLst/>
          </a:prstGeom>
          <a:solidFill>
            <a:srgbClr val="1C2B5E"/>
          </a:solidFill>
          <a:ln w="12700">
            <a:solidFill>
              <a:srgbClr val="243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1325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868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Correlation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Filter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Drop &gt;0.92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corr. 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0" y="1225296"/>
            <a:ext cx="1188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64792" y="841248"/>
            <a:ext cx="1325880" cy="914400"/>
          </a:xfrm>
          <a:prstGeom prst="rect">
            <a:avLst/>
          </a:prstGeom>
          <a:solidFill>
            <a:srgbClr val="1C2B5E"/>
          </a:solidFill>
          <a:ln w="12700">
            <a:solidFill>
              <a:srgbClr val="243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64792" y="841248"/>
            <a:ext cx="1325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12264" y="868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Winsorize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64792" y="12618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Clip 1%-99%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percentile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90672" y="1225296"/>
            <a:ext cx="1188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9544" y="841248"/>
            <a:ext cx="1325880" cy="914400"/>
          </a:xfrm>
          <a:prstGeom prst="rect">
            <a:avLst/>
          </a:prstGeom>
          <a:solidFill>
            <a:srgbClr val="1C2B5E"/>
          </a:solidFill>
          <a:ln w="12700">
            <a:solidFill>
              <a:srgbClr val="243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9544" y="841248"/>
            <a:ext cx="1325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57016" y="868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Train-Test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Split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9544" y="12618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80/20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Stratified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35424" y="1225296"/>
            <a:ext cx="1188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54296" y="841248"/>
            <a:ext cx="1325880" cy="914400"/>
          </a:xfrm>
          <a:prstGeom prst="rect">
            <a:avLst/>
          </a:prstGeom>
          <a:solidFill>
            <a:srgbClr val="1C2B5E"/>
          </a:solidFill>
          <a:ln w="12700">
            <a:solidFill>
              <a:srgbClr val="243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841248"/>
            <a:ext cx="1325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01768" y="868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RobustScaler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Normalize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54296" y="12618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Handles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outliers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0176" y="1225296"/>
            <a:ext cx="1188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9048" y="841248"/>
            <a:ext cx="1325880" cy="914400"/>
          </a:xfrm>
          <a:prstGeom prst="rect">
            <a:avLst/>
          </a:prstGeom>
          <a:solidFill>
            <a:srgbClr val="1C2B5E"/>
          </a:solidFill>
          <a:ln w="12700">
            <a:solidFill>
              <a:srgbClr val="243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99048" y="841248"/>
            <a:ext cx="1325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868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SMOTE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Balance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9048" y="12618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30:1 → 1:1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train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24928" y="1225296"/>
            <a:ext cx="1188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841248"/>
            <a:ext cx="1325880" cy="914400"/>
          </a:xfrm>
          <a:prstGeom prst="rect">
            <a:avLst/>
          </a:prstGeom>
          <a:solidFill>
            <a:srgbClr val="1C2B5E"/>
          </a:solidFill>
          <a:ln w="12700">
            <a:solidFill>
              <a:srgbClr val="243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43800" y="841248"/>
            <a:ext cx="1325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91272" y="868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Selection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43800" y="12618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Top 40 via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RF Importance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1920240"/>
            <a:ext cx="8503920" cy="38404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240280" y="1920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20440" y="1920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PR-AUC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1920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 (Macro)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80760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(Bankrupt)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52360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(Bankrupt)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2304288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304288"/>
            <a:ext cx="1920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5E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240280" y="23042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0.591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20440" y="23042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0.082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00600" y="23042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0.634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8076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0.705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5236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0.128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2688336"/>
            <a:ext cx="8503920" cy="38404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688336"/>
            <a:ext cx="1920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5E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240280" y="2688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0.762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520440" y="2688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0.212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00600" y="2688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0.745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080760" y="2688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0.727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452360" y="2688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0.214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" y="3072384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072384"/>
            <a:ext cx="1920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5E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240280" y="3072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0.944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520440" y="3072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0.485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800600" y="3072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0.704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080760" y="3072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0.523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452360" y="3072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0.344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3456432"/>
            <a:ext cx="8503920" cy="38404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5E"/>
                </a:solidFill>
              </a:rPr>
              <a:t>AdaBoost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240280" y="3456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0.918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520440" y="3456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0.418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800600" y="3456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0.731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08076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0.614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45236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0.261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20040" y="3840480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3840480"/>
            <a:ext cx="1920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5E"/>
                </a:solidFill>
              </a:rPr>
              <a:t>Gradient Boosting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24028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0.941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52044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0.476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80060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0.714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08076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0.682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45236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0.294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20040" y="4224528"/>
            <a:ext cx="850392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0040" y="4224528"/>
            <a:ext cx="54864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4224528"/>
            <a:ext cx="1920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5E"/>
                </a:solidFill>
              </a:rPr>
              <a:t>GBM Tuned ⭐ BEST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2240280" y="4224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</a:rPr>
              <a:t>0.943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520440" y="4224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</a:rPr>
              <a:t>0.487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800600" y="4224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</a:rPr>
              <a:t>0.748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080760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</a:rPr>
              <a:t>0.727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7452360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</a:rPr>
              <a:t>0.346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43875">
              <a:alpha val="40000"/>
            </a:srgbClr>
          </a:solidFill>
          <a:ln w="12700">
            <a:solidFill>
              <a:srgbClr val="243875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Final Results &amp; Business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82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011680" cy="1170432"/>
          </a:xfrm>
          <a:prstGeom prst="rect">
            <a:avLst/>
          </a:prstGeom>
          <a:solidFill>
            <a:srgbClr val="16205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9144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</a:rPr>
              <a:t>0.943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ROC-AUC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Strong discrimination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914400"/>
            <a:ext cx="2011680" cy="1170432"/>
          </a:xfrm>
          <a:prstGeom prst="rect">
            <a:avLst/>
          </a:prstGeom>
          <a:solidFill>
            <a:srgbClr val="16205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9144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</a:rPr>
              <a:t>0.727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Recall (Bankrupt)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68880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Catches 73% of failures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2011680" cy="1170432"/>
          </a:xfrm>
          <a:prstGeom prst="rect">
            <a:avLst/>
          </a:prstGeom>
          <a:solidFill>
            <a:srgbClr val="16205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9144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</a:rPr>
              <a:t>0.487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PR-AUC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High precision-recall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2011680" cy="1170432"/>
          </a:xfrm>
          <a:prstGeom prst="rect">
            <a:avLst/>
          </a:prstGeom>
          <a:solidFill>
            <a:srgbClr val="16205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9144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</a:rPr>
              <a:t>0.35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Opt. Threshold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66560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F8"/>
                </a:solidFill>
              </a:rPr>
              <a:t>F1-maximised cutoff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212848"/>
            <a:ext cx="4114800" cy="2670048"/>
          </a:xfrm>
          <a:prstGeom prst="rect">
            <a:avLst/>
          </a:prstGeom>
          <a:solidFill>
            <a:srgbClr val="162050"/>
          </a:solidFill>
          <a:ln w="12700">
            <a:solidFill>
              <a:srgbClr val="2A3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212848"/>
            <a:ext cx="64008" cy="2670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FFFFFF"/>
                </a:solidFill>
              </a:rPr>
              <a:t>Top </a:t>
            </a:r>
            <a:r>
              <a:rPr lang="en-US" sz="1300" b="1" dirty="0">
                <a:solidFill>
                  <a:srgbClr val="FFFFFF"/>
                </a:solidFill>
              </a:rPr>
              <a:t>Bankruptcy Warning Signals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2715768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Negative / Low ROA — Company not generating profit from assets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High Debt Ratio — Total liabilities approaching total assets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Low Net Worth / Assets — Equity base is critically thin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Poor Cash Flow to Total Assets — Severe liquidity risk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Negative Retained Earnings — Accumulated losses mounting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A020"/>
                </a:solidFill>
              </a:rPr>
              <a:t>▸  Liability-Assets Flag = 1 — Total debt exceeds total assets (critical)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212848"/>
            <a:ext cx="4160520" cy="2670048"/>
          </a:xfrm>
          <a:prstGeom prst="rect">
            <a:avLst/>
          </a:prstGeom>
          <a:solidFill>
            <a:srgbClr val="162050"/>
          </a:solidFill>
          <a:ln w="12700">
            <a:solidFill>
              <a:srgbClr val="2A3F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212848"/>
            <a:ext cx="64008" cy="2670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FFFFFF"/>
                </a:solidFill>
              </a:rPr>
              <a:t>Recommendations </a:t>
            </a:r>
            <a:r>
              <a:rPr lang="en-US" sz="1300" b="1" dirty="0">
                <a:solidFill>
                  <a:srgbClr val="FFFFFF"/>
                </a:solidFill>
              </a:rPr>
              <a:t>&amp; Limitations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715768"/>
            <a:ext cx="38404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Deploy with optimal threshold (0.35) for early risk screening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Prioritise Recall — missing a bankrupt firm is far costlier than a false alarm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Monitor quarterly: ROA, Debt Ratio, Cash Flow to Total Assets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F8"/>
                </a:solidFill>
              </a:rPr>
              <a:t>▸  Combine model score with credit bureau data for holistic credit decisions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4"/>
                </a:solidFill>
              </a:rPr>
              <a:t>▸  Limitation: Macro indicators (GDP, interest rates) not yet included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4"/>
                </a:solidFill>
              </a:rPr>
              <a:t>▸  Limitation: Requires periodic retraining as market conditions shift</a:t>
            </a:r>
          </a:p>
        </p:txBody>
      </p:sp>
      <p:sp>
        <p:nvSpPr>
          <p:cNvPr id="31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96A8"/>
                </a:solidFill>
              </a:rPr>
              <a:t>Algorithm: Gradient Boosting (Tuned) · SMOTE · Top-40 Features · RobustScaler · 5-Fold CV · Optimal Threshold: 0.35</a:t>
            </a:r>
            <a:endParaRPr lang="en-US" sz="9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600</Words>
  <Application>Microsoft Office PowerPoint</Application>
  <PresentationFormat>On-screen Show (16:9)</PresentationFormat>
  <Paragraphs>149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Bankruptcy Prediction — BFSI ML Project</dc:title>
  <dc:subject>PptxGenJS Presentation</dc:subject>
  <dc:creator>Data Science Team</dc:creator>
  <cp:lastModifiedBy>Atharva Khot</cp:lastModifiedBy>
  <cp:revision>2</cp:revision>
  <dcterms:created xsi:type="dcterms:W3CDTF">2026-03-05T06:36:28Z</dcterms:created>
  <dcterms:modified xsi:type="dcterms:W3CDTF">2026-03-05T06:44:31Z</dcterms:modified>
</cp:coreProperties>
</file>